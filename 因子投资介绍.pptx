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2C2C2C"/>
                </a:solidFill>
                <a:latin typeface="PingFang SC"/>
              </a:defRPr>
            </a:pPr>
            <a:r>
              <a:t>因子投资 · 入门指南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PingFang SC"/>
              </a:defRPr>
            </a:pPr>
            <a:r>
              <a:t>基本面 · 量价 · 另类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9144000" cy="73152"/>
          </a:xfrm>
          <a:prstGeom prst="rect">
            <a:avLst/>
          </a:prstGeom>
          <a:solidFill>
            <a:srgbClr val="6B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645152"/>
            <a:ext cx="9144000" cy="73152"/>
          </a:xfrm>
          <a:prstGeom prst="rect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73152"/>
          </a:xfrm>
          <a:prstGeom prst="rect">
            <a:avLst/>
          </a:prstGeom>
          <a:solidFill>
            <a:srgbClr val="9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C2C2C"/>
                </a:solidFill>
                <a:latin typeface="PingFang SC"/>
              </a:defRPr>
            </a:pPr>
            <a:r>
              <a:t>因子全景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2194560" cy="502920"/>
          </a:xfrm>
          <a:prstGeom prst="roundRect">
            <a:avLst/>
          </a:prstGeom>
          <a:solidFill>
            <a:srgbClr val="F3EFFA"/>
          </a:solidFill>
          <a:ln w="19050">
            <a:solidFill>
              <a:srgbClr val="6B4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B4EA8"/>
                </a:solidFill>
                <a:latin typeface="PingFang SC"/>
              </a:defRPr>
            </a:pPr>
            <a:r>
              <a:t>基本面因子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914400"/>
            <a:ext cx="2194560" cy="502920"/>
          </a:xfrm>
          <a:prstGeom prst="roundRect">
            <a:avLst/>
          </a:prstGeom>
          <a:solidFill>
            <a:srgbClr val="FDF0E4"/>
          </a:solidFill>
          <a:ln w="19050">
            <a:solidFill>
              <a:srgbClr val="E87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87A2E"/>
                </a:solidFill>
                <a:latin typeface="PingFang SC"/>
              </a:defRPr>
            </a:pPr>
            <a:r>
              <a:t>量价因子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914400"/>
            <a:ext cx="2194560" cy="502920"/>
          </a:xfrm>
          <a:prstGeom prst="roundRect">
            <a:avLst/>
          </a:prstGeom>
          <a:solidFill>
            <a:srgbClr val="FAECF2"/>
          </a:solidFill>
          <a:ln w="19050">
            <a:solidFill>
              <a:srgbClr val="9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B3A6B"/>
                </a:solidFill>
                <a:latin typeface="PingFang SC"/>
              </a:defRPr>
            </a:pPr>
            <a:r>
              <a:t>另类因子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.0" y="1417320"/>
            <a:ext cx="0.0" cy="2286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417320" y="1691640"/>
            <a:ext cx="384048" cy="1371600"/>
          </a:xfrm>
          <a:prstGeom prst="roundRect">
            <a:avLst/>
          </a:prstGeom>
          <a:solidFill>
            <a:srgbClr val="F3EFFA"/>
          </a:solidFill>
          <a:ln w="15240">
            <a:solidFill>
              <a:srgbClr val="6B4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6B4EA8"/>
                </a:solidFill>
                <a:latin typeface="PingFang SC"/>
              </a:defRPr>
            </a:pPr>
            <a:r>
              <a:t>成</a:t>
            </a:r>
            <a:br/>
            <a:r>
              <a:t>长</a:t>
            </a:r>
            <a:br/>
            <a:r>
              <a:t>因</a:t>
            </a:r>
            <a:br/>
            <a:r>
              <a:t>子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609344.0" y="1645920"/>
            <a:ext cx="310896.0" cy="4572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1691640"/>
            <a:ext cx="384048" cy="1371600"/>
          </a:xfrm>
          <a:prstGeom prst="roundRect">
            <a:avLst/>
          </a:prstGeom>
          <a:solidFill>
            <a:srgbClr val="F3EFFA"/>
          </a:solidFill>
          <a:ln w="15240">
            <a:solidFill>
              <a:srgbClr val="6B4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6B4EA8"/>
                </a:solidFill>
                <a:latin typeface="PingFang SC"/>
              </a:defRPr>
            </a:pPr>
            <a:r>
              <a:t>价</a:t>
            </a:r>
            <a:br/>
            <a:r>
              <a:t>值</a:t>
            </a:r>
            <a:br/>
            <a:r>
              <a:t>因</a:t>
            </a:r>
            <a:br/>
            <a:r>
              <a:t>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.0" y="1645920"/>
            <a:ext cx="329184.0" cy="4572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.0" y="1417320"/>
            <a:ext cx="0.0" cy="2286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69080" y="1691640"/>
            <a:ext cx="384048" cy="1371600"/>
          </a:xfrm>
          <a:prstGeom prst="roundRect">
            <a:avLst/>
          </a:prstGeom>
          <a:solidFill>
            <a:srgbClr val="FDF0E4"/>
          </a:solidFill>
          <a:ln w="15240">
            <a:solidFill>
              <a:srgbClr val="E87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E87A2E"/>
                </a:solidFill>
                <a:latin typeface="PingFang SC"/>
              </a:defRPr>
            </a:pPr>
            <a:r>
              <a:t>动</a:t>
            </a:r>
            <a:br/>
            <a:r>
              <a:t>量</a:t>
            </a:r>
            <a:br/>
            <a:r>
              <a:t>因</a:t>
            </a:r>
            <a:br/>
            <a:r>
              <a:t>子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261104.0" y="1645920"/>
            <a:ext cx="310896.0" cy="4572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09160" y="1691640"/>
            <a:ext cx="384048" cy="1371600"/>
          </a:xfrm>
          <a:prstGeom prst="roundRect">
            <a:avLst/>
          </a:prstGeom>
          <a:solidFill>
            <a:srgbClr val="FDF0E4"/>
          </a:solidFill>
          <a:ln w="15240">
            <a:solidFill>
              <a:srgbClr val="E87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E87A2E"/>
                </a:solidFill>
                <a:latin typeface="PingFang SC"/>
              </a:defRPr>
            </a:pPr>
            <a:r>
              <a:t>反</a:t>
            </a:r>
            <a:br/>
            <a:r>
              <a:t>转</a:t>
            </a:r>
            <a:br/>
            <a:r>
              <a:t>因</a:t>
            </a:r>
            <a:br/>
            <a:r>
              <a:t>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.0" y="1645920"/>
            <a:ext cx="329184.0" cy="4572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23760.0" y="1417320"/>
            <a:ext cx="0.0" cy="2286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37960" y="1691640"/>
            <a:ext cx="384048" cy="1371600"/>
          </a:xfrm>
          <a:prstGeom prst="roundRect">
            <a:avLst/>
          </a:prstGeom>
          <a:solidFill>
            <a:srgbClr val="FAECF2"/>
          </a:solidFill>
          <a:ln w="15240">
            <a:solidFill>
              <a:srgbClr val="9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9B3A6B"/>
                </a:solidFill>
                <a:latin typeface="PingFang SC"/>
              </a:defRPr>
            </a:pPr>
            <a:r>
              <a:t>情</a:t>
            </a:r>
            <a:br/>
            <a:r>
              <a:t>绪</a:t>
            </a:r>
            <a:br/>
            <a:r>
              <a:t>因</a:t>
            </a:r>
            <a:br/>
            <a:r>
              <a:t>子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729984.0" y="1645920"/>
            <a:ext cx="493776.0" cy="4572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23760" y="1691640"/>
            <a:ext cx="384048" cy="1371600"/>
          </a:xfrm>
          <a:prstGeom prst="roundRect">
            <a:avLst/>
          </a:prstGeom>
          <a:solidFill>
            <a:srgbClr val="FAECF2"/>
          </a:solidFill>
          <a:ln w="15240">
            <a:solidFill>
              <a:srgbClr val="9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9B3A6B"/>
                </a:solidFill>
                <a:latin typeface="PingFang SC"/>
              </a:defRPr>
            </a:pPr>
            <a:r>
              <a:t>供</a:t>
            </a:r>
            <a:br/>
            <a:r>
              <a:t>应</a:t>
            </a:r>
            <a:br/>
            <a:r>
              <a:t>链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60.0" y="1645920"/>
            <a:ext cx="192024.0" cy="4572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09560" y="1691640"/>
            <a:ext cx="384048" cy="1371600"/>
          </a:xfrm>
          <a:prstGeom prst="roundRect">
            <a:avLst/>
          </a:prstGeom>
          <a:solidFill>
            <a:srgbClr val="FAECF2"/>
          </a:solidFill>
          <a:ln w="15240">
            <a:solidFill>
              <a:srgbClr val="9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defRPr sz="1100" b="1">
                <a:solidFill>
                  <a:srgbClr val="9B3A6B"/>
                </a:solidFill>
                <a:latin typeface="PingFang SC"/>
              </a:defRPr>
            </a:pPr>
            <a:r>
              <a:t>卫</a:t>
            </a:r>
            <a:br/>
            <a:r>
              <a:t>星</a:t>
            </a:r>
            <a:br/>
            <a:r>
              <a:t>数</a:t>
            </a:r>
            <a:br/>
            <a:r>
              <a:t>据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23760.0" y="1645920"/>
            <a:ext cx="877824.0" cy="4572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48640" y="3246120"/>
            <a:ext cx="8046720" cy="9525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2900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6B4EA8"/>
                </a:solidFill>
                <a:latin typeface="PingFang SC"/>
              </a:defRPr>
            </a:pPr>
            <a:r>
              <a:t>基本面因子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76472"/>
            <a:ext cx="2606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6B4EA8"/>
                </a:solidFill>
                <a:latin typeface="PingFang SC"/>
              </a:defRPr>
            </a:pPr>
            <a:r>
              <a:t>成长因子：过去扩张快，未来还会快？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PingFang SC"/>
              </a:defRPr>
            </a:pPr>
            <a:r>
              <a:t>例：奶茶品牌去年10家店、今年30家，营收利润双增，处于高速扩张期。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2C2C2C"/>
                </a:solidFill>
                <a:latin typeface="PingFang SC"/>
              </a:defRPr>
            </a:pPr>
            <a:r>
              <a:t>核心定义：用营收、利润增速衡量扩张能力，捕捉高增长机会。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46320"/>
            <a:ext cx="2606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6B4EA8"/>
                </a:solidFill>
                <a:latin typeface="PingFang SC"/>
              </a:defRPr>
            </a:pPr>
            <a:r>
              <a:t>价值因子：现在卖得便宜，未来更划算？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PingFang SC"/>
              </a:defRPr>
            </a:pPr>
            <a:r>
              <a:t>例：两家店利润相当，B店市值明显偏低，更像被低估，安全边际更高。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2C2C2C"/>
                </a:solidFill>
                <a:latin typeface="PingFang SC"/>
              </a:defRPr>
            </a:pPr>
            <a:r>
              <a:t>核心定义：用 BP 衡量股价是否低于内在价值，捕捉「便宜买好货」机会。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42900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87A2E"/>
                </a:solidFill>
                <a:latin typeface="PingFang SC"/>
              </a:defRPr>
            </a:pPr>
            <a:r>
              <a:t>量价因子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776472"/>
            <a:ext cx="2606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C0392B"/>
                </a:solidFill>
                <a:latin typeface="PingFang SC"/>
              </a:defRPr>
            </a:pPr>
            <a:r>
              <a:t>动量因子：过去涨得猛，未来还会涨？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PingFang SC"/>
              </a:defRPr>
            </a:pPr>
            <a:r>
              <a:t>例：网红奶茶店上月排队2小时，本月大概率仍排长队，热度有惯性。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2C2C2C"/>
                </a:solidFill>
                <a:latin typeface="PingFang SC"/>
              </a:defRPr>
            </a:pPr>
            <a:r>
              <a:t>核心定义：量化价格趋势延续性，捕捉「强者恒强」现象。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846320"/>
            <a:ext cx="2606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E87A2E"/>
                </a:solidFill>
                <a:latin typeface="PingFang SC"/>
              </a:defRPr>
            </a:pPr>
            <a:r>
              <a:t>反转因子：涨过头了，会回摆？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PingFang SC"/>
              </a:defRPr>
            </a:pPr>
            <a:r>
              <a:t>例：明星打卡排队从10分钟飙到3小时，一个月后缩回15分钟。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2C2C2C"/>
                </a:solidFill>
                <a:latin typeface="PingFang SC"/>
              </a:defRPr>
            </a:pPr>
            <a:r>
              <a:t>核心定义：盛极而衰、否极泰来，捕捉均值回归机会。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342900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9B3A6B"/>
                </a:solidFill>
                <a:latin typeface="PingFang SC"/>
              </a:defRPr>
            </a:pPr>
            <a:r>
              <a:t>另类因子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776472"/>
            <a:ext cx="2606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9B3A6B"/>
                </a:solidFill>
                <a:latin typeface="PingFang SC"/>
              </a:defRPr>
            </a:pPr>
            <a:r>
              <a:t>另类因子：停车场能预判业绩？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66666"/>
                </a:solidFill>
                <a:latin typeface="PingFang SC"/>
              </a:defRPr>
            </a:pPr>
            <a:r>
              <a:t>例：卫星数百货停车场车辆，车流下滑往往早于财报披露。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2C2C2C"/>
                </a:solidFill>
                <a:latin typeface="PingFang SC"/>
              </a:defRPr>
            </a:pPr>
            <a:r>
              <a:t>核心定义：从非传统数据（文本、情绪、供应链）提取投资信号。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B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6B4EA8"/>
                </a:solidFill>
                <a:latin typeface="PingFang SC"/>
              </a:defRPr>
            </a:pPr>
            <a:r>
              <a:t>基本面因子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749039" cy="1691640"/>
          </a:xfrm>
          <a:prstGeom prst="roundRect">
            <a:avLst/>
          </a:prstGeom>
          <a:solidFill>
            <a:srgbClr val="F3EFFA"/>
          </a:solidFill>
          <a:ln w="9525">
            <a:solidFill>
              <a:srgbClr val="6B4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32918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6B4EA8"/>
                </a:solidFill>
                <a:latin typeface="PingFang SC"/>
              </a:defRPr>
            </a:pPr>
            <a:r>
              <a:t>成长因子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2C2C2C"/>
                </a:solidFill>
                <a:latin typeface="PingFang SC"/>
              </a:defRPr>
            </a:pPr>
            <a:r>
              <a:t>过去扩张快，未来还会快？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PingFang SC"/>
              </a:defRPr>
            </a:pPr>
            <a:r>
              <a:t>例：奶茶品牌去年10家店、今年30家，营收利润双增。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2C2C2C"/>
                </a:solidFill>
                <a:latin typeface="PingFang SC"/>
              </a:defRPr>
            </a:pPr>
            <a:r>
              <a:t>核心定义：用营收、利润增速衡量扩张能力。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108959"/>
            <a:ext cx="3749039" cy="1691640"/>
          </a:xfrm>
          <a:prstGeom prst="roundRect">
            <a:avLst/>
          </a:prstGeom>
          <a:solidFill>
            <a:srgbClr val="F3EFFA"/>
          </a:solidFill>
          <a:ln w="9525">
            <a:solidFill>
              <a:srgbClr val="6B4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73551"/>
            <a:ext cx="32918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6B4EA8"/>
                </a:solidFill>
                <a:latin typeface="PingFang SC"/>
              </a:defRPr>
            </a:pPr>
            <a:r>
              <a:t>价值因子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2C2C2C"/>
                </a:solidFill>
                <a:latin typeface="PingFang SC"/>
              </a:defRPr>
            </a:pPr>
            <a:r>
              <a:t>现在卖得便宜，未来更划算？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PingFang SC"/>
              </a:defRPr>
            </a:pPr>
            <a:r>
              <a:t>例：两家店利润相当，B店市值偏低，更像被低估。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2C2C2C"/>
                </a:solidFill>
                <a:latin typeface="PingFang SC"/>
              </a:defRPr>
            </a:pPr>
            <a:r>
              <a:t>核心定义：用 BP 衡量股价是否低于内在价值。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87A2E"/>
                </a:solidFill>
                <a:latin typeface="PingFang SC"/>
              </a:defRPr>
            </a:pPr>
            <a:r>
              <a:t>量价因子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749039" cy="1691640"/>
          </a:xfrm>
          <a:prstGeom prst="roundRect">
            <a:avLst/>
          </a:prstGeom>
          <a:solidFill>
            <a:srgbClr val="FDF0E4"/>
          </a:solidFill>
          <a:ln w="9525">
            <a:solidFill>
              <a:srgbClr val="E87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32918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87A2E"/>
                </a:solidFill>
                <a:latin typeface="PingFang SC"/>
              </a:defRPr>
            </a:pPr>
            <a:r>
              <a:t>动量因子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2C2C2C"/>
                </a:solidFill>
                <a:latin typeface="PingFang SC"/>
              </a:defRPr>
            </a:pPr>
            <a:r>
              <a:t>过去涨得猛，未来还会涨？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PingFang SC"/>
              </a:defRPr>
            </a:pPr>
            <a:r>
              <a:t>例：网红奶茶店上月排队2小时，本月大概率仍排长队。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2C2C2C"/>
                </a:solidFill>
                <a:latin typeface="PingFang SC"/>
              </a:defRPr>
            </a:pPr>
            <a:r>
              <a:t>核心定义：量化趋势延续性，捕捉「强者恒强」。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108959"/>
            <a:ext cx="3749039" cy="1691640"/>
          </a:xfrm>
          <a:prstGeom prst="roundRect">
            <a:avLst/>
          </a:prstGeom>
          <a:solidFill>
            <a:srgbClr val="FDF0E4"/>
          </a:solidFill>
          <a:ln w="9525">
            <a:solidFill>
              <a:srgbClr val="E87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73551"/>
            <a:ext cx="32918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87A2E"/>
                </a:solidFill>
                <a:latin typeface="PingFang SC"/>
              </a:defRPr>
            </a:pPr>
            <a:r>
              <a:t>反转因子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2C2C2C"/>
                </a:solidFill>
                <a:latin typeface="PingFang SC"/>
              </a:defRPr>
            </a:pPr>
            <a:r>
              <a:t>涨过头了，会回摆？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PingFang SC"/>
              </a:defRPr>
            </a:pPr>
            <a:r>
              <a:t>例：明星打卡排队飙到3小时，一个月后缩回15分钟。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2C2C2C"/>
                </a:solidFill>
                <a:latin typeface="PingFang SC"/>
              </a:defRPr>
            </a:pPr>
            <a:r>
              <a:t>核心定义：捕捉均值回归，盛极而衰、否极泰来。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9B3A6B"/>
                </a:solidFill>
                <a:latin typeface="PingFang SC"/>
              </a:defRPr>
            </a:pPr>
            <a:r>
              <a:t>另类因子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749039" cy="1691640"/>
          </a:xfrm>
          <a:prstGeom prst="roundRect">
            <a:avLst/>
          </a:prstGeom>
          <a:solidFill>
            <a:srgbClr val="FAECF2"/>
          </a:solidFill>
          <a:ln w="9525">
            <a:solidFill>
              <a:srgbClr val="9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32918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B3A6B"/>
                </a:solidFill>
                <a:latin typeface="PingFang SC"/>
              </a:defRPr>
            </a:pPr>
            <a:r>
              <a:t>情绪因子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2C2C2C"/>
                </a:solidFill>
                <a:latin typeface="PingFang SC"/>
              </a:defRPr>
            </a:pPr>
            <a:r>
              <a:t>舆论风向能领先股价？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PingFang SC"/>
              </a:defRPr>
            </a:pPr>
            <a:r>
              <a:t>例：社交媒体负面情绪升温，常早于股价反应。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2C2C2C"/>
                </a:solidFill>
                <a:latin typeface="PingFang SC"/>
              </a:defRPr>
            </a:pPr>
            <a:r>
              <a:t>核心定义：从文本、舆情等非结构化数据提取信号。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108959"/>
            <a:ext cx="3749039" cy="1691640"/>
          </a:xfrm>
          <a:prstGeom prst="roundRect">
            <a:avLst/>
          </a:prstGeom>
          <a:solidFill>
            <a:srgbClr val="FAECF2"/>
          </a:solidFill>
          <a:ln w="9525">
            <a:solidFill>
              <a:srgbClr val="9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73551"/>
            <a:ext cx="32918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B3A6B"/>
                </a:solidFill>
                <a:latin typeface="PingFang SC"/>
              </a:defRPr>
            </a:pPr>
            <a:r>
              <a:t>供应链因子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2C2C2C"/>
                </a:solidFill>
                <a:latin typeface="PingFang SC"/>
              </a:defRPr>
            </a:pPr>
            <a:r>
              <a:t>上游异动能预警下游？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PingFang SC"/>
              </a:defRPr>
            </a:pPr>
            <a:r>
              <a:t>例：供应商出货放缓，或预示品牌方下季承压。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2C2C2C"/>
                </a:solidFill>
                <a:latin typeface="PingFang SC"/>
              </a:defRPr>
            </a:pPr>
            <a:r>
              <a:t>核心定义：用产业链数据辅助基本面判断。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